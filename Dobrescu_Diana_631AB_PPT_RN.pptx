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Helvetica World" charset="1" panose="020B0500040000020004"/>
      <p:regular r:id="rId19"/>
    </p:embeddedFont>
    <p:embeddedFont>
      <p:font typeface="Georgia Pro Condensed" charset="1" panose="02040506050405020303"/>
      <p:regular r:id="rId20"/>
    </p:embeddedFont>
    <p:embeddedFont>
      <p:font typeface="Helvetica World Bold" charset="1" panose="020B08000400000200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7C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700"/>
            <a:ext cx="11201400" cy="10299700"/>
            <a:chOff x="0" y="0"/>
            <a:chExt cx="963348" cy="8857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3348" cy="885799"/>
            </a:xfrm>
            <a:custGeom>
              <a:avLst/>
              <a:gdLst/>
              <a:ahLst/>
              <a:cxnLst/>
              <a:rect r="r" b="b" t="t" l="l"/>
              <a:pathLst>
                <a:path h="885799" w="963348">
                  <a:moveTo>
                    <a:pt x="0" y="0"/>
                  </a:moveTo>
                  <a:lnTo>
                    <a:pt x="963348" y="0"/>
                  </a:lnTo>
                  <a:lnTo>
                    <a:pt x="963348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DBE8D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868150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66750" y="9001760"/>
            <a:ext cx="6886575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sz="3800" spc="-57">
                <a:solidFill>
                  <a:srgbClr val="17382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Dobrescu Diana 631AB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5380" y="975068"/>
            <a:ext cx="9754495" cy="3894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56"/>
              </a:lnSpc>
            </a:pPr>
            <a:r>
              <a:rPr lang="en-US" sz="14956" spc="-523" strike="noStrike" u="none">
                <a:solidFill>
                  <a:srgbClr val="17382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Plant Identifier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8947742" y="765609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1"/>
                </a:lnTo>
                <a:lnTo>
                  <a:pt x="0" y="1859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0F3F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207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17382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Ce este Aplicatia?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7407275"/>
            <a:ext cx="6886575" cy="221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17382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Aceasta este o </a:t>
            </a:r>
            <a:r>
              <a:rPr lang="en-US" b="true" sz="2499" spc="-37" strike="noStrike" u="none">
                <a:solidFill>
                  <a:srgbClr val="17382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aplicatie web inovatoare</a:t>
            </a:r>
            <a:r>
              <a:rPr lang="en-US" sz="2499" spc="-37" strike="noStrike" u="none">
                <a:solidFill>
                  <a:srgbClr val="17382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pentru identificarea plantelor folosind tehnologia AI, permitand utilizatorilor sa incarce o fotografie si sa primeasca informatii detaliate despre specia plantei identificate.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7C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7382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F0F3F1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3249275" cy="2067009"/>
            <a:chOff x="0" y="0"/>
            <a:chExt cx="176657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6657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173826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Caracteristici principale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87687"/>
              <a:ext cx="17665700" cy="568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17382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Funcționalități inovatoare ale aplicației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4308497" cy="2901950"/>
            <a:chOff x="0" y="0"/>
            <a:chExt cx="5744662" cy="38692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5744662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17382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Identificare plante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60450"/>
              <a:ext cx="5744662" cy="2808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173826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Folosind rețele neuronale profunde, aplicația identifică cu precizie diverse specii de plante dintr-o simplă fotografie încărcată de utilizator, oferind astfel un instrument util pentru grădinari și pasionați.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91388" y="5143500"/>
            <a:ext cx="4010025" cy="2901950"/>
            <a:chOff x="0" y="0"/>
            <a:chExt cx="5346700" cy="38692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0"/>
              <a:ext cx="53467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17382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Informații detaliate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60450"/>
              <a:ext cx="5346700" cy="2808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173826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Aplicația returnează informații cuprinzătoare despre plante, inclusiv numele științific, cerințele de îngrijire, lumina necesară și nevoile de apă, facilitând îngrijirea corespunzătoare a fiecărei plante.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72950" y="5143500"/>
            <a:ext cx="4010025" cy="2901950"/>
            <a:chOff x="0" y="0"/>
            <a:chExt cx="5346700" cy="386926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0"/>
              <a:ext cx="53467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17382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Design modern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060450"/>
              <a:ext cx="5346700" cy="2808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173826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Interfața aplicației este modernă și responsivă, având un design minimalist alb-negru care îmbunătățește experiența utilizatorului printr-o navigare ușoară și intuitivă.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0F3F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17382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Tehnologii utilizate în aplicație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7407275"/>
            <a:ext cx="6886575" cy="221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17382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Aplicația utilizează </a:t>
            </a:r>
            <a:r>
              <a:rPr lang="en-US" b="true" sz="2499" spc="-37" strike="noStrike" u="none">
                <a:solidFill>
                  <a:srgbClr val="17382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tehnologii avansate</a:t>
            </a:r>
            <a:r>
              <a:rPr lang="en-US" sz="2499" spc="-37" strike="noStrike" u="none">
                <a:solidFill>
                  <a:srgbClr val="17382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precum Flask pentru backend, TensorFlow și Keras pentru învățarea automată, și arhitectura MobileNetV2 pentru a oferi o experiență de utilizare eficientă și rapidă.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7C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4A7C5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348912" y="666750"/>
            <a:ext cx="6886575" cy="8953500"/>
            <a:chOff x="0" y="0"/>
            <a:chExt cx="9182100" cy="1193800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142875"/>
              <a:ext cx="9182100" cy="28204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trike="noStrike" u="none">
                  <a:solidFill>
                    <a:srgbClr val="A9CBB7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Arhitectura sistemului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9054042"/>
              <a:ext cx="9182100" cy="28839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 strike="noStrike" u="none">
                  <a:solidFill>
                    <a:srgbClr val="A9CBB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Structura aplicatiei este compusa dintr-o interfata frontend utilizand HTML, CSS, si JavaScript, un backend Flask pentru API REST, un model AI antrenat si foldere pentru datele de antrenament si imaginile incarcate.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0F3F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207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17382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Structura Proiectului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7445375"/>
            <a:ext cx="6886575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17382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Proiectul este organizat in mod eficient, incluzand fisiere esentiale precum app_improved.py pentru aplicatia principala, train_model.py pentru antrenarea modelului, si foldere pentru pagini HTML si design.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0F3F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372725" y="666750"/>
            <a:ext cx="6886575" cy="8953500"/>
            <a:chOff x="0" y="0"/>
            <a:chExt cx="9182100" cy="1193800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142875"/>
              <a:ext cx="9182100" cy="416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trike="noStrike" u="none">
                  <a:solidFill>
                    <a:srgbClr val="173826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Instalare si rulare a aplicatiei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9638242"/>
              <a:ext cx="9182100" cy="2299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 strike="noStrike" u="none">
                  <a:solidFill>
                    <a:srgbClr val="173826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Pentru a rula aplicatia, utilizatorii trebuie sa urmeze trei pasi simpli: instalarea dependintelor, antrenarea modelului si lansarea aplicatiei. Accesati http://localhost:5000 pentru a incepe.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7C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4A7C5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169399" y="866001"/>
            <a:ext cx="9735930" cy="8392299"/>
          </a:xfrm>
          <a:custGeom>
            <a:avLst/>
            <a:gdLst/>
            <a:ahLst/>
            <a:cxnLst/>
            <a:rect r="r" b="b" t="t" l="l"/>
            <a:pathLst>
              <a:path h="8392299" w="9735930">
                <a:moveTo>
                  <a:pt x="0" y="0"/>
                </a:moveTo>
                <a:lnTo>
                  <a:pt x="9735930" y="0"/>
                </a:lnTo>
                <a:lnTo>
                  <a:pt x="9735930" y="8392299"/>
                </a:lnTo>
                <a:lnTo>
                  <a:pt x="0" y="8392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21" t="0" r="-3761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66750" y="809625"/>
            <a:ext cx="6886575" cy="207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A9CBB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API Endpoints Overview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6750" y="7445375"/>
            <a:ext cx="6886575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A9CBB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This section outlines the essential API endpoints for the Plant Identifier application, enabling seamless communication between the frontend and backend, ensuring accurate plant identification and user interaction.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868400" y="20259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0F3F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0"/>
            <a:ext cx="7210343" cy="10287000"/>
            <a:chOff x="0" y="0"/>
            <a:chExt cx="9613791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613791" cy="6512146"/>
            </a:xfrm>
            <a:custGeom>
              <a:avLst/>
              <a:gdLst/>
              <a:ahLst/>
              <a:cxnLst/>
              <a:rect r="r" b="b" t="t" l="l"/>
              <a:pathLst>
                <a:path h="6512146" w="9613791">
                  <a:moveTo>
                    <a:pt x="0" y="0"/>
                  </a:moveTo>
                  <a:lnTo>
                    <a:pt x="9613791" y="0"/>
                  </a:lnTo>
                  <a:lnTo>
                    <a:pt x="9613791" y="6512146"/>
                  </a:lnTo>
                  <a:lnTo>
                    <a:pt x="0" y="65121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89665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692466"/>
              <a:ext cx="9613791" cy="7023534"/>
            </a:xfrm>
            <a:custGeom>
              <a:avLst/>
              <a:gdLst/>
              <a:ahLst/>
              <a:cxnLst/>
              <a:rect r="r" b="b" t="t" l="l"/>
              <a:pathLst>
                <a:path h="7023534" w="9613791">
                  <a:moveTo>
                    <a:pt x="0" y="0"/>
                  </a:moveTo>
                  <a:lnTo>
                    <a:pt x="9613791" y="0"/>
                  </a:lnTo>
                  <a:lnTo>
                    <a:pt x="9613791" y="7023534"/>
                  </a:lnTo>
                  <a:lnTo>
                    <a:pt x="0" y="70235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4559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425113" y="304800"/>
            <a:ext cx="6886575" cy="8953500"/>
            <a:chOff x="0" y="0"/>
            <a:chExt cx="9182100" cy="119380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42875"/>
              <a:ext cx="9182100" cy="28204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trike="noStrike" u="none">
                  <a:solidFill>
                    <a:srgbClr val="173826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Performanța aplicației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9435042"/>
              <a:ext cx="9182100" cy="25029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 strike="noStrike" u="none">
                  <a:solidFill>
                    <a:srgbClr val="173826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Modelul are o dimensiune de </a:t>
              </a:r>
              <a:r>
                <a:rPr lang="en-US" b="true" sz="2499" spc="-37" strike="noStrike" u="none">
                  <a:solidFill>
                    <a:srgbClr val="17382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85-100 MB</a:t>
              </a:r>
              <a:r>
                <a:rPr lang="en-US" sz="2499" spc="-37" strike="noStrike" u="none">
                  <a:solidFill>
                    <a:srgbClr val="173826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, oferind predicții rapide de sub </a:t>
              </a:r>
              <a:r>
                <a:rPr lang="en-US" b="true" sz="2499" spc="-37" strike="noStrike" u="none">
                  <a:solidFill>
                    <a:srgbClr val="17382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1 secundă</a:t>
              </a:r>
              <a:r>
                <a:rPr lang="en-US" sz="2499" spc="-37" strike="noStrike" u="none">
                  <a:solidFill>
                    <a:srgbClr val="173826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, cu o încărcare rapidă între </a:t>
              </a:r>
              <a:r>
                <a:rPr lang="en-US" b="true" sz="2499" spc="-37" strike="noStrike" u="none">
                  <a:solidFill>
                    <a:srgbClr val="17382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2-3 secunde</a:t>
              </a:r>
              <a:r>
                <a:rPr lang="en-US" sz="2499" spc="-37" strike="noStrike" u="none">
                  <a:solidFill>
                    <a:srgbClr val="173826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și consum de </a:t>
              </a:r>
              <a:r>
                <a:rPr lang="en-US" b="true" sz="2499" spc="-37" strike="noStrike" u="none">
                  <a:solidFill>
                    <a:srgbClr val="17382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RAM</a:t>
              </a:r>
              <a:r>
                <a:rPr lang="en-US" sz="2499" spc="-37" strike="noStrike" u="none">
                  <a:solidFill>
                    <a:srgbClr val="173826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variind între </a:t>
              </a:r>
              <a:r>
                <a:rPr lang="en-US" b="true" sz="2499" spc="-37" strike="noStrike" u="none">
                  <a:solidFill>
                    <a:srgbClr val="17382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500MB și 2GB</a:t>
              </a:r>
              <a:r>
                <a:rPr lang="en-US" sz="2499" spc="-37" strike="noStrike" u="none">
                  <a:solidFill>
                    <a:srgbClr val="173826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7C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4A7C5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0010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66750" y="809625"/>
            <a:ext cx="6886575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A9CBB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Detalii Antrenare Model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6750" y="7407275"/>
            <a:ext cx="6886575" cy="221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A9CBB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Modelul utilizat este </a:t>
            </a:r>
            <a:r>
              <a:rPr lang="en-US" b="true" sz="2499" spc="-37" strike="noStrike" u="none">
                <a:solidFill>
                  <a:srgbClr val="A9CBB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MobileNetV2</a:t>
            </a:r>
            <a:r>
              <a:rPr lang="en-US" sz="2499" spc="-37" strike="noStrike" u="none">
                <a:solidFill>
                  <a:srgbClr val="A9CBB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preantrenat pe ImageNet, incorporând straturi Dense și Dropout pentru performanță optimizată. Funcții avansate de augmentare a datelor facilitează îmbunătățirea generală a predicțiilor.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0F3F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0010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66750" y="809625"/>
            <a:ext cx="6886575" cy="207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17382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Extensii viitoare ale aplicatiei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6750" y="7407275"/>
            <a:ext cx="6886575" cy="221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17382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Proiectul va include </a:t>
            </a:r>
            <a:r>
              <a:rPr lang="en-US" b="true" sz="2499" spc="-37" strike="noStrike" u="none">
                <a:solidFill>
                  <a:srgbClr val="17382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noi caracteristici</a:t>
            </a:r>
            <a:r>
              <a:rPr lang="en-US" sz="2499" spc="-37" strike="noStrike" u="none">
                <a:solidFill>
                  <a:srgbClr val="17382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adăugarea mai multor plante, funcționalități de autentificare pentru utilizatori, istoric al predicțiilor, o aplicație mobilă și integrarea identificării live prin webcam, precum și deployment în cloud.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7C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4A7C5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4762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003006" y="505434"/>
            <a:ext cx="6886575" cy="207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A9CBB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Cerințe sistem pentru aplicație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003006" y="8016796"/>
            <a:ext cx="6886575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A9CBB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Pentru a utiliza aplicația, aveți nevoie de Python 3.8 sau o versiune mai recentă, minim 4GB RAM (8GB recomandat), 2GB spațiu liber pe disc și un browser modern pentru o experiență optimă.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95365"/>
            <a:ext cx="8317491" cy="579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56"/>
              </a:lnSpc>
            </a:pPr>
            <a:r>
              <a:rPr lang="en-US" sz="14956" spc="-523">
                <a:solidFill>
                  <a:srgbClr val="17382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Multumesc</a:t>
            </a:r>
          </a:p>
          <a:p>
            <a:pPr algn="l">
              <a:lnSpc>
                <a:spcPts val="14956"/>
              </a:lnSpc>
            </a:pPr>
            <a:r>
              <a:rPr lang="en-US" sz="14956" spc="-523">
                <a:solidFill>
                  <a:srgbClr val="17382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pentru</a:t>
            </a:r>
          </a:p>
          <a:p>
            <a:pPr algn="l" marL="0" indent="0" lvl="0">
              <a:lnSpc>
                <a:spcPts val="14956"/>
              </a:lnSpc>
            </a:pPr>
            <a:r>
              <a:rPr lang="en-US" sz="14956" spc="-523">
                <a:solidFill>
                  <a:srgbClr val="17382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atentie!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429875" y="0"/>
            <a:ext cx="7858125" cy="10287000"/>
            <a:chOff x="0" y="0"/>
            <a:chExt cx="10477500" cy="13716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477500" cy="13716000"/>
              <a:chOff x="0" y="0"/>
              <a:chExt cx="1031988" cy="1350966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031988" cy="1350966"/>
              </a:xfrm>
              <a:custGeom>
                <a:avLst/>
                <a:gdLst/>
                <a:ahLst/>
                <a:cxnLst/>
                <a:rect r="r" b="b" t="t" l="l"/>
                <a:pathLst>
                  <a:path h="1350966" w="1031988">
                    <a:moveTo>
                      <a:pt x="0" y="0"/>
                    </a:moveTo>
                    <a:lnTo>
                      <a:pt x="1031988" y="0"/>
                    </a:lnTo>
                    <a:lnTo>
                      <a:pt x="1031988" y="1350966"/>
                    </a:lnTo>
                    <a:lnTo>
                      <a:pt x="0" y="1350966"/>
                    </a:lnTo>
                    <a:close/>
                  </a:path>
                </a:pathLst>
              </a:custGeom>
              <a:solidFill>
                <a:srgbClr val="4A7C59"/>
              </a:solidFill>
            </p:spPr>
          </p:sp>
        </p:grpSp>
        <p:grpSp>
          <p:nvGrpSpPr>
            <p:cNvPr name="Group 6" id="6"/>
            <p:cNvGrpSpPr/>
            <p:nvPr/>
          </p:nvGrpSpPr>
          <p:grpSpPr>
            <a:xfrm rot="0">
              <a:off x="1403350" y="889000"/>
              <a:ext cx="7670800" cy="11938000"/>
              <a:chOff x="0" y="0"/>
              <a:chExt cx="814724" cy="126794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4724" cy="1267949"/>
              </a:xfrm>
              <a:custGeom>
                <a:avLst/>
                <a:gdLst/>
                <a:ahLst/>
                <a:cxnLst/>
                <a:rect r="r" b="b" t="t" l="l"/>
                <a:pathLst>
                  <a:path h="1267949" w="814724">
                    <a:moveTo>
                      <a:pt x="26914" y="0"/>
                    </a:moveTo>
                    <a:lnTo>
                      <a:pt x="787810" y="0"/>
                    </a:lnTo>
                    <a:cubicBezTo>
                      <a:pt x="802675" y="0"/>
                      <a:pt x="814724" y="12050"/>
                      <a:pt x="814724" y="26914"/>
                    </a:cubicBezTo>
                    <a:lnTo>
                      <a:pt x="814724" y="1241035"/>
                    </a:lnTo>
                    <a:cubicBezTo>
                      <a:pt x="814724" y="1255899"/>
                      <a:pt x="802675" y="1267949"/>
                      <a:pt x="787810" y="1267949"/>
                    </a:cubicBezTo>
                    <a:lnTo>
                      <a:pt x="26914" y="1267949"/>
                    </a:lnTo>
                    <a:cubicBezTo>
                      <a:pt x="12050" y="1267949"/>
                      <a:pt x="0" y="1255899"/>
                      <a:pt x="0" y="1241035"/>
                    </a:cubicBezTo>
                    <a:lnTo>
                      <a:pt x="0" y="26914"/>
                    </a:lnTo>
                    <a:cubicBezTo>
                      <a:pt x="0" y="12050"/>
                      <a:pt x="12050" y="0"/>
                      <a:pt x="26914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0" t="-199" r="0" b="-199"/>
                </a:stretch>
              </a:blipFill>
            </p:spPr>
          </p:sp>
        </p:grpSp>
        <p:sp>
          <p:nvSpPr>
            <p:cNvPr name="Freeform 8" id="8"/>
            <p:cNvSpPr/>
            <p:nvPr/>
          </p:nvSpPr>
          <p:spPr>
            <a:xfrm flipH="false" flipV="false" rot="-3117037">
              <a:off x="7225043" y="10603628"/>
              <a:ext cx="2816806" cy="2478789"/>
            </a:xfrm>
            <a:custGeom>
              <a:avLst/>
              <a:gdLst/>
              <a:ahLst/>
              <a:cxnLst/>
              <a:rect r="r" b="b" t="t" l="l"/>
              <a:pathLst>
                <a:path h="2478789" w="2816806">
                  <a:moveTo>
                    <a:pt x="0" y="0"/>
                  </a:moveTo>
                  <a:lnTo>
                    <a:pt x="2816806" y="0"/>
                  </a:lnTo>
                  <a:lnTo>
                    <a:pt x="2816806" y="2478789"/>
                  </a:lnTo>
                  <a:lnTo>
                    <a:pt x="0" y="24787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Plant Identifier</dc:description>
  <dc:identifier>DAHBDqg1reE</dc:identifier>
  <dcterms:modified xsi:type="dcterms:W3CDTF">2011-08-01T06:04:30Z</dcterms:modified>
  <cp:revision>1</cp:revision>
  <dc:title>Presentation - Plant Identifier</dc:title>
</cp:coreProperties>
</file>